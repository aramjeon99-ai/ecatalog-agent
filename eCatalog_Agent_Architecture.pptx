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45720"/>
            <a:ext cx="1164031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1A1A2E"/>
                </a:solidFill>
              </a:rPr>
              <a:t>eCatalog Agent  —  시스템 아키텍처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502920"/>
            <a:ext cx="5760720" cy="914400"/>
          </a:xfrm>
          <a:prstGeom prst="rect">
            <a:avLst/>
          </a:prstGeom>
          <a:solidFill>
            <a:srgbClr val="EBF5FB"/>
          </a:solidFill>
          <a:ln w="15240">
            <a:solidFill>
              <a:srgbClr val="3498D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521207"/>
            <a:ext cx="2743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1A6FA8"/>
                </a:solidFill>
              </a:rPr>
              <a:t>Streamlit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621792"/>
            <a:ext cx="2560320" cy="713232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A5E7A"/>
                </a:solidFill>
              </a:rPr>
              <a:t>INPUT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시스템 데이터 업로드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system_data / pdf_mapping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63240" y="978408"/>
            <a:ext cx="457200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566160" y="621792"/>
            <a:ext cx="2286000" cy="713232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A5E7A"/>
                </a:solidFill>
              </a:rPr>
              <a:t>LIST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Q코드 목록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PDF·URL 있는 항목  |  앞7+뒤7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144475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959352" y="1664208"/>
            <a:ext cx="4270248" cy="713232"/>
          </a:xfrm>
          <a:prstGeom prst="roundRect">
            <a:avLst/>
          </a:prstGeom>
          <a:solidFill>
            <a:srgbClr val="D1F2EB"/>
          </a:solidFill>
          <a:ln w="1905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0E6B5B"/>
                </a:solidFill>
              </a:rPr>
              <a:t>CONTEXT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QcodeContext 수집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444444"/>
                </a:solidFill>
              </a:rPr>
              <a:t>PDF 텍스트(PyMuPDF)  ·  URL  ·  사양값  ·  메이커명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4476" y="2423160"/>
            <a:ext cx="0" cy="155448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74320" y="2606040"/>
            <a:ext cx="11640312" cy="841248"/>
          </a:xfrm>
          <a:prstGeom prst="rect">
            <a:avLst/>
          </a:prstGeom>
          <a:solidFill>
            <a:srgbClr val="FFFDF0"/>
          </a:solidFill>
          <a:ln w="15240">
            <a:solidFill>
              <a:srgbClr val="F39C1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624328"/>
            <a:ext cx="4572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B7770E"/>
                </a:solidFill>
              </a:rPr>
              <a:t>ThreadPoolExecutor  (병렬 실행)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70632"/>
            <a:ext cx="3566160" cy="59436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메이커 검증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665544"/>
                </a:solidFill>
              </a:rPr>
              <a:t>verify_manufacturer()  |  maker_catalog_hints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2770632"/>
            <a:ext cx="3566160" cy="59436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웹 검색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665544"/>
                </a:solidFill>
              </a:rPr>
              <a:t>web_searcher  (timeout 6s)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2770632"/>
            <a:ext cx="3566160" cy="59436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URL 스펙 추출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665544"/>
                </a:solidFill>
              </a:rPr>
              <a:t>url_spec_fetcher  (timeout 8s)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4476" y="3493008"/>
            <a:ext cx="0" cy="155448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74320" y="3675887"/>
            <a:ext cx="11640312" cy="1417320"/>
          </a:xfrm>
          <a:prstGeom prst="rect">
            <a:avLst/>
          </a:prstGeom>
          <a:solidFill>
            <a:srgbClr val="EAF9F1"/>
          </a:solidFill>
          <a:ln w="15240">
            <a:solidFill>
              <a:srgbClr val="27AE6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694176"/>
            <a:ext cx="36576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1A6B40"/>
                </a:solidFill>
              </a:rPr>
              <a:t>Early-Exit  (조기 승인 로직)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58768"/>
            <a:ext cx="5303520" cy="566928"/>
          </a:xfrm>
          <a:prstGeom prst="roundRect">
            <a:avLst/>
          </a:prstGeom>
          <a:solidFill>
            <a:srgbClr val="D5F5E3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4A30"/>
                </a:solidFill>
              </a:rPr>
              <a:t>_pdf_fully_confirmed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335544"/>
                </a:solidFill>
              </a:rPr>
              <a:t>pdf존재 + 모델일치 + 메이커일치 + 사양확인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100584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27AE60"/>
                </a:solidFill>
              </a:rPr>
              <a:t>YES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17320" y="4581144"/>
            <a:ext cx="685800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48840" y="4471416"/>
            <a:ext cx="2286000" cy="420624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1E8A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즉시 승인  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480560"/>
            <a:ext cx="82296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E74C3C"/>
                </a:solidFill>
              </a:rPr>
              <a:t>NO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74920" y="4581144"/>
            <a:ext cx="411480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513832" y="4471416"/>
            <a:ext cx="777240" cy="420624"/>
          </a:xfrm>
          <a:prstGeom prst="roundRect">
            <a:avLst/>
          </a:prstGeom>
          <a:solidFill>
            <a:srgbClr val="D5D8DC"/>
          </a:solidFill>
          <a:ln w="1905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444444"/>
                </a:solidFill>
              </a:rPr>
              <a:t>다음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858768"/>
            <a:ext cx="5349240" cy="566928"/>
          </a:xfrm>
          <a:prstGeom prst="roundRect">
            <a:avLst/>
          </a:prstGeom>
          <a:solidFill>
            <a:srgbClr val="D5F5E3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4A30"/>
                </a:solidFill>
              </a:rPr>
              <a:t>_no_meaningful_specs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335544"/>
                </a:solidFill>
              </a:rPr>
              <a:t>사양값 전부 9999 (미입력 상태)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480560"/>
            <a:ext cx="100584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27AE60"/>
                </a:solidFill>
              </a:rPr>
              <a:t>YES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269480" y="4581144"/>
            <a:ext cx="685799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982712" y="4471416"/>
            <a:ext cx="2468880" cy="420624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1E8A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</a:rPr>
              <a:t>모델·메이커 일치 시 승인  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480560"/>
            <a:ext cx="82296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E74C3C"/>
                </a:solidFill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064240" y="4581144"/>
            <a:ext cx="411480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1503152" y="4471416"/>
            <a:ext cx="777240" cy="420624"/>
          </a:xfrm>
          <a:prstGeom prst="roundRect">
            <a:avLst/>
          </a:prstGeom>
          <a:solidFill>
            <a:srgbClr val="D5D8DC"/>
          </a:solidFill>
          <a:ln w="1905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444444"/>
                </a:solidFill>
              </a:rPr>
              <a:t>Step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4476" y="5138928"/>
            <a:ext cx="0" cy="13716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74320" y="5303520"/>
            <a:ext cx="11640312" cy="987552"/>
          </a:xfrm>
          <a:prstGeom prst="rect">
            <a:avLst/>
          </a:prstGeom>
          <a:solidFill>
            <a:srgbClr val="EAF0FB"/>
          </a:solidFill>
          <a:ln w="15240">
            <a:solidFill>
              <a:srgbClr val="2C3E5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5321808"/>
            <a:ext cx="54864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</a:rPr>
              <a:t>LangGraph 워크플로우  (graph.py)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458968"/>
            <a:ext cx="1463040" cy="749808"/>
          </a:xfrm>
          <a:prstGeom prst="roundRect">
            <a:avLst/>
          </a:prstGeom>
          <a:solidFill>
            <a:srgbClr val="EAF0FB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1">
                <a:solidFill>
                  <a:srgbClr val="2C3E50"/>
                </a:solidFill>
              </a:rPr>
              <a:t>STEP 0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입력 검증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필드·PDF 존재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74520" y="5833872"/>
            <a:ext cx="201168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075688" y="5458968"/>
            <a:ext cx="1463040" cy="749808"/>
          </a:xfrm>
          <a:prstGeom prst="roundRect">
            <a:avLst/>
          </a:prstGeom>
          <a:solidFill>
            <a:srgbClr val="EAF0FB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1">
                <a:solidFill>
                  <a:srgbClr val="2C3E50"/>
                </a:solidFill>
              </a:rPr>
              <a:t>STEP 1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PDF 파싱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모델·메이커 매칭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538728" y="5833872"/>
            <a:ext cx="201168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739896" y="5458968"/>
            <a:ext cx="1463040" cy="749808"/>
          </a:xfrm>
          <a:prstGeom prst="roundRect">
            <a:avLst/>
          </a:prstGeom>
          <a:solidFill>
            <a:srgbClr val="EAF0FB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1">
                <a:solidFill>
                  <a:srgbClr val="2C3E50"/>
                </a:solidFill>
              </a:rPr>
              <a:t>STEP 2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신뢰도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PDF 출처 품질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202936" y="5833872"/>
            <a:ext cx="201167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5404104" y="5458968"/>
            <a:ext cx="1463040" cy="749808"/>
          </a:xfrm>
          <a:prstGeom prst="roundRect">
            <a:avLst/>
          </a:prstGeom>
          <a:solidFill>
            <a:srgbClr val="EAF0FB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1">
                <a:solidFill>
                  <a:srgbClr val="2C3E50"/>
                </a:solidFill>
              </a:rPr>
              <a:t>STEP 3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사양 비교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Claude API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67144" y="5833872"/>
            <a:ext cx="201168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068312" y="5458968"/>
            <a:ext cx="1463040" cy="749808"/>
          </a:xfrm>
          <a:prstGeom prst="roundRect">
            <a:avLst/>
          </a:prstGeom>
          <a:solidFill>
            <a:srgbClr val="EAF0FB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1">
                <a:solidFill>
                  <a:srgbClr val="2C3E50"/>
                </a:solidFill>
              </a:rPr>
              <a:t>STEP 4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메이커 검증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maker_list + hints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531352" y="5833872"/>
            <a:ext cx="201168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732519" y="5458968"/>
            <a:ext cx="1463040" cy="749808"/>
          </a:xfrm>
          <a:prstGeom prst="roundRect">
            <a:avLst/>
          </a:prstGeom>
          <a:solidFill>
            <a:srgbClr val="EAF0FB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1">
                <a:solidFill>
                  <a:srgbClr val="2C3E50"/>
                </a:solidFill>
              </a:rPr>
              <a:t>STEP 5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중복 검사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SQLite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195559" y="5833872"/>
            <a:ext cx="201169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396728" y="5458968"/>
            <a:ext cx="1463040" cy="749808"/>
          </a:xfrm>
          <a:prstGeom prst="roundRect">
            <a:avLst/>
          </a:prstGeom>
          <a:solidFill>
            <a:srgbClr val="F4ECF7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1">
                <a:solidFill>
                  <a:srgbClr val="8E44AD"/>
                </a:solidFill>
              </a:rPr>
              <a:t>STEP 6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최종 판정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APPROVED / REJECTED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4476" y="6336792"/>
            <a:ext cx="0" cy="128016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99515" y="6492240"/>
            <a:ext cx="3291840" cy="292608"/>
          </a:xfrm>
          <a:prstGeom prst="roundRect">
            <a:avLst/>
          </a:prstGeom>
          <a:solidFill>
            <a:srgbClr val="F2F3F4"/>
          </a:solidFill>
          <a:ln w="1905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검토 보고서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사양확장표  (.xlsx)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91356" y="6638544"/>
            <a:ext cx="457200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448555" y="6492240"/>
            <a:ext cx="3291840" cy="292608"/>
          </a:xfrm>
          <a:prstGeom prst="roundRect">
            <a:avLst/>
          </a:prstGeom>
          <a:solidFill>
            <a:srgbClr val="F2F3F4"/>
          </a:solidFill>
          <a:ln w="1905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SQLite 로그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단계별 판정 이력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740396" y="6638544"/>
            <a:ext cx="457200" cy="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197596" y="6492240"/>
            <a:ext cx="3291840" cy="292608"/>
          </a:xfrm>
          <a:prstGeom prst="roundRect">
            <a:avLst/>
          </a:prstGeom>
          <a:solidFill>
            <a:srgbClr val="D6EAF8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</a:rPr>
              <a:t>UI 결과 표시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700" b="0">
                <a:solidFill>
                  <a:srgbClr val="555555"/>
                </a:solidFill>
              </a:rPr>
              <a:t>판정 · 이유 · 사양 비교표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